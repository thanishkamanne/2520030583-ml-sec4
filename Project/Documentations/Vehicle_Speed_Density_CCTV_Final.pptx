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9725" cy="68580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8990" y="1149350"/>
            <a:ext cx="9601200" cy="2565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769BE"/>
                </a:solidFill>
                <a:latin typeface="Aptos"/>
              </a:rPr>
              <a:t>MACHINE LEARNING PROJECT</a:t>
            </a:r>
            <a:endParaRPr sz="12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417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3100" b="1" i="0">
                <a:solidFill>
                  <a:srgbClr val="1C2F4C"/>
                </a:solidFill>
                <a:latin typeface="Aptos"/>
              </a:rPr>
              <a:t>VEHICLE SPEED AND
DENSITY ESTIMATION</a:t>
            </a:r>
            <a:endParaRPr sz="31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2944368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8303C"/>
                </a:solidFill>
                <a:latin typeface="Aptos"/>
              </a:rPr>
              <a:t>USING DEEP LEARNING ON CCTV FEEDS</a:t>
            </a:r>
            <a:endParaRPr sz="2200" b="1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3703320"/>
            <a:ext cx="9875520" cy="7315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697C96"/>
                </a:solidFill>
                <a:latin typeface="Aptos"/>
              </a:rPr>
              <a:t>A video-based approach to vehicle detection, traffic density estimation,
and exploratory analysis of movement patterns.</a:t>
            </a:r>
            <a:endParaRPr sz="17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8096" y="4572000"/>
            <a:ext cx="10652760" cy="18288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727702"/>
            <a:ext cx="5943600" cy="530352"/>
          </a:xfrm>
          <a:prstGeom prst="rect">
            <a:avLst/>
          </a:prstGeom>
          <a:noFill/>
        </p:spPr>
        <p:txBody>
          <a:bodyPr wrap="square" lIns="36576" tIns="18288" rIns="36576" bIns="36576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8303C"/>
                </a:solidFill>
                <a:latin typeface="Aptos"/>
              </a:defRPr>
            </a:pPr>
            <a:r>
              <a:t>01. Joshi Rushitha - 2520030204</a:t>
            </a:r>
          </a:p>
          <a:p>
            <a:pPr>
              <a:defRPr sz="1200" b="1">
                <a:solidFill>
                  <a:srgbClr val="28303C"/>
                </a:solidFill>
                <a:latin typeface="Aptos"/>
              </a:defRPr>
            </a:pPr>
            <a:r>
              <a:t>02. Manne Thanishka - 2520030583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442585"/>
            <a:ext cx="7955279" cy="28765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  <a:defRPr sz="1200">
                <a:solidFill>
                  <a:srgbClr val="697C96"/>
                </a:solidFill>
                <a:latin typeface="Aptos"/>
              </a:defRPr>
            </a:pPr>
            <a:r>
              <a:rPr sz="1400" b="1"/>
              <a:t>Under the Guidance of Jyothsna Datti</a:t>
            </a:r>
            <a:endParaRPr sz="1400" b="1"/>
          </a:p>
        </p:txBody>
      </p:sp>
      <p:pic>
        <p:nvPicPr>
          <p:cNvPr id="11" name="Picture 10" descr="b7087da9-4f69-493e-af34-87a0ef3ff0f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2170" y="0"/>
            <a:ext cx="2604135" cy="1069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Abstract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What the system does and what the current prototype can report.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02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8900" y="2208530"/>
            <a:ext cx="9143365" cy="2771775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The project analyses an uploaded CCTV or road video to understand visible traffic activity.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A pretrained deep-learning detector identifies vehicles in selected video frames.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The system summarises vehicle counts over time and estimates how detections are distributed across image regions.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Additional indicators examine possible congestion patterns and close vehicle trajectories for human review.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The current prototype is a decision-support tool. Reliable speed in km/h and safety performance require calibration and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Introduction and problem statement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A practical problem in reviewing road-camera footage.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03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0485" y="2279015"/>
            <a:ext cx="9352280" cy="2510155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Traffic cameras record large amounts of video, but reviewing every frame manually takes time.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A simple vehicle count does not show whether traffic is moving steadily or forming a queue.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Camera angle, vehicle overlap, lighting and occlusion can make visual estimates uncertain.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This project combines detection with time-based and region-based summaries to make footage easier to review.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303C"/>
                </a:solidFill>
                <a:latin typeface="Aptos"/>
              </a:defRPr>
            </a:pPr>
            <a:r>
              <a:t>The prototype focuses on one uploaded clip at a time rather than claiming city-wide traffic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Objectives and scope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The work is organised around measurable outputs from a single road video.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04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64008" cy="13258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Objectives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2423160"/>
            <a:ext cx="4873752" cy="731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Detect visible vehicles, summarise frame counts, compare regions, inspect movement trends and flag events that deserve manual review.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64008" cy="13258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Input and output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2423160"/>
            <a:ext cx="4873752" cy="731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Input: a road video and optional camera/location label. Output: annotated video, count statistics, activity chart and exploratory indicators.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8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611880"/>
            <a:ext cx="64008" cy="1325880"/>
          </a:xfrm>
          <a:prstGeom prst="rect">
            <a:avLst/>
          </a:prstGeom>
          <a:solidFill>
            <a:srgbClr val="3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49040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Included in this prototype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" y="4114800"/>
            <a:ext cx="4873752" cy="731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Vehicle detection in sampled frames, visible-count summaries, image-region occupancy and heuristic warning signals.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3611880"/>
            <a:ext cx="5257800" cy="13258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11880"/>
            <a:ext cx="64008" cy="1325880"/>
          </a:xfrm>
          <a:prstGeom prst="rect">
            <a:avLst/>
          </a:prstGeom>
          <a:solidFill>
            <a:srgbClr val="CD6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49040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Outside current claims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19088" y="4114800"/>
            <a:ext cx="4873752" cy="731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Calibrated speed in km/h, certified road capacity, collision prediction and generalisation to every camera or road.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1">
                <a:solidFill>
                  <a:srgbClr val="697C96"/>
                </a:solidFill>
                <a:latin typeface="Aptos"/>
              </a:rPr>
              <a:t>The scope is intentionally limited to the footage supplied by the user.</a:t>
            </a:r>
            <a:endParaRPr sz="1300" b="0" i="1">
              <a:solidFill>
                <a:srgbClr val="697C9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Background: common traffic-video methods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The project uses established computer-vision ideas rather than claiming the methods are entirely new.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195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05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25955"/>
            <a:ext cx="10698480" cy="416052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Object detection: convolutional neural networks and YOLO-family models locate vehicles in a frame.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Object tracking: trackers associate detections across frames so movement can be studied over time.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Traffic measurement: counts, occupancy, motion and queue indicators provide different views of traffic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Near-miss screening: trajectory proximity can identify clips for review, but image-space proximity alone cannot establish a collision risk.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Project contribution: presenting these indicators together in one explainable workflow for a user-uploaded clip.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Research gap and proposed approach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Why combine several simple indicators instead of showing only a count?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06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37970" y="1914525"/>
            <a:ext cx="8887460" cy="2648585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A count-only result gives little context about where vehicles are concentrated.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A single frame cannot show whether counts are rising, falling or staying stable over time.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A camera view is two-dimensional, so occupancy and motion need to be described as image-space estimates.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The dashboard combines temporal counts, region-wise occupancy, a multi-signal bottleneck check and near-miss review flags.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The project reports uncertainty and limitations alongside the result rather than treating every heuristic as a confirmed event.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Dataset and input video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The current dataset is a video clip from a fixed road-camera view.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07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7472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141732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7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Data type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377439"/>
            <a:ext cx="3090672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just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Video file containing sequential road frames.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70832" y="1874519"/>
            <a:ext cx="347472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74519"/>
            <a:ext cx="64008" cy="141732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7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Current sample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39"/>
            <a:ext cx="3090672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Example clip: cctv052x2004080516x01638.avi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474720" cy="141732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64008" cy="141732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01167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Unit of analysis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02168" y="2377439"/>
            <a:ext cx="3090672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Sampled frames and visible vehicle detections.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379476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2F4C"/>
                </a:solidFill>
                <a:latin typeface="Aptos"/>
              </a:rPr>
              <a:t>Important dataset note</a:t>
            </a:r>
            <a:endParaRPr sz="1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4251960"/>
            <a:ext cx="10515600" cy="164592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 algn="just"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The current clip appears to show one camera view / road section, not a collection of different roads.</a:t>
            </a:r>
          </a:p>
          <a:p>
            <a:pPr algn="just"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The system can analyse other compatible clips, but results should not be generalised beyond the available footage without testing.</a:t>
            </a:r>
          </a:p>
          <a:p>
            <a:pPr algn="just"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The uploaded file is the input to the application; the model does not require users to manually type vehicle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System workflow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From uploaded footage to a reviewable traffic summary.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08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58368" y="1965960"/>
            <a:ext cx="438912" cy="438912"/>
          </a:xfrm>
          <a:prstGeom prst="ellipse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79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769BE"/>
                </a:solidFill>
                <a:latin typeface="Aptos"/>
              </a:rPr>
              <a:t>1</a:t>
            </a:r>
            <a:endParaRPr sz="13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5295" y="196596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F4C"/>
                </a:solidFill>
                <a:latin typeface="Aptos"/>
              </a:rPr>
              <a:t>Upload video</a:t>
            </a:r>
            <a:endParaRPr sz="16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25295" y="2350008"/>
            <a:ext cx="2880360" cy="31813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Select a compatible road clip.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80559" y="1965960"/>
            <a:ext cx="438912" cy="438912"/>
          </a:xfrm>
          <a:prstGeom prst="ellipse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11679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769BE"/>
                </a:solidFill>
                <a:latin typeface="Aptos"/>
              </a:rPr>
              <a:t>2</a:t>
            </a:r>
            <a:endParaRPr sz="13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7488" y="196596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F4C"/>
                </a:solidFill>
                <a:latin typeface="Aptos"/>
              </a:rPr>
              <a:t>Sample frames</a:t>
            </a:r>
            <a:endParaRPr sz="16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47488" y="2350008"/>
            <a:ext cx="2880360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Read selected frames at intervals.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302752" y="1965960"/>
            <a:ext cx="438912" cy="438912"/>
          </a:xfrm>
          <a:prstGeom prst="ellipse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79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769BE"/>
                </a:solidFill>
                <a:latin typeface="Aptos"/>
              </a:rPr>
              <a:t>3</a:t>
            </a:r>
            <a:endParaRPr sz="13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0" y="196596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F4C"/>
                </a:solidFill>
                <a:latin typeface="Aptos"/>
              </a:rPr>
              <a:t>Detect vehicles</a:t>
            </a:r>
            <a:endParaRPr sz="16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2350008"/>
            <a:ext cx="2880360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Run the detector on each sampled frame.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8368" y="3611880"/>
            <a:ext cx="438912" cy="438912"/>
          </a:xfrm>
          <a:prstGeom prst="ellipse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57600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769BE"/>
                </a:solidFill>
                <a:latin typeface="Aptos"/>
              </a:rPr>
              <a:t>4</a:t>
            </a:r>
            <a:endParaRPr sz="13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25295" y="361188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F4C"/>
                </a:solidFill>
                <a:latin typeface="Aptos"/>
              </a:rPr>
              <a:t>Aggregate</a:t>
            </a:r>
            <a:endParaRPr sz="16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25295" y="3995928"/>
            <a:ext cx="2880360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Calculate counts and region summaries.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480559" y="3611880"/>
            <a:ext cx="438912" cy="438912"/>
          </a:xfrm>
          <a:prstGeom prst="ellipse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657600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769BE"/>
                </a:solidFill>
                <a:latin typeface="Aptos"/>
              </a:rPr>
              <a:t>5</a:t>
            </a:r>
            <a:endParaRPr sz="13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47488" y="361188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F4C"/>
                </a:solidFill>
                <a:latin typeface="Aptos"/>
              </a:rPr>
              <a:t>Analyse signals</a:t>
            </a:r>
            <a:endParaRPr sz="16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47488" y="3995928"/>
            <a:ext cx="2880360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Check motion, occupancy and trajectories.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302752" y="3611880"/>
            <a:ext cx="438912" cy="438912"/>
          </a:xfrm>
          <a:prstGeom prst="ellipse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3657600"/>
            <a:ext cx="438912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769BE"/>
                </a:solidFill>
                <a:latin typeface="Aptos"/>
              </a:rPr>
              <a:t>6</a:t>
            </a:r>
            <a:endParaRPr sz="13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69680" y="3611880"/>
            <a:ext cx="28346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F4C"/>
                </a:solidFill>
                <a:latin typeface="Aptos"/>
              </a:rPr>
              <a:t>Show results</a:t>
            </a:r>
            <a:endParaRPr sz="16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69680" y="3995928"/>
            <a:ext cx="2880360" cy="5645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8303C"/>
                </a:solidFill>
                <a:latin typeface="Aptos"/>
              </a:rPr>
              <a:t>Display metrics and annotated output.</a:t>
            </a:r>
            <a:endParaRPr sz="16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" y="5073650"/>
            <a:ext cx="10515600" cy="86995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3769BE"/>
                </a:solidFill>
                <a:latin typeface="Aptos"/>
              </a:rPr>
              <a:t>Video → frame sampling → detection → tracking / aggregation → analytics → report</a:t>
            </a:r>
            <a:endParaRPr sz="1400" b="1" i="0">
              <a:solidFill>
                <a:srgbClr val="3769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System architecture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A simple separation between the web interface and the analysis pipeline.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09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2194560" cy="822960"/>
          </a:xfrm>
          <a:prstGeom prst="rect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011679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User interface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011679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28303C"/>
                </a:solidFill>
                <a:latin typeface="Aptos"/>
              </a:rPr>
              <a:t>Upload clip and options</a:t>
            </a:r>
            <a:endParaRPr sz="10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29000" y="2057400"/>
            <a:ext cx="2194560" cy="822960"/>
          </a:xfrm>
          <a:prstGeom prst="rect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2011679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Backend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2487168"/>
            <a:ext cx="2011679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28303C"/>
                </a:solidFill>
                <a:latin typeface="Aptos"/>
              </a:rPr>
              <a:t>Validate and process request</a:t>
            </a:r>
            <a:endParaRPr sz="10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0" y="2057400"/>
            <a:ext cx="2194560" cy="822960"/>
          </a:xfrm>
          <a:prstGeom prst="rect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2167128"/>
            <a:ext cx="2011679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Vision pipeline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79" y="2487168"/>
            <a:ext cx="2011679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28303C"/>
                </a:solidFill>
                <a:latin typeface="Aptos"/>
              </a:rPr>
              <a:t>Sample frames and detect</a:t>
            </a:r>
            <a:endParaRPr sz="10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41080" y="2057400"/>
            <a:ext cx="2468880" cy="822960"/>
          </a:xfrm>
          <a:prstGeom prst="rect">
            <a:avLst/>
          </a:prstGeom>
          <a:solidFill>
            <a:srgbClr val="E8EF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19" y="2167128"/>
            <a:ext cx="22860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Analytics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19" y="2487168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28303C"/>
                </a:solidFill>
                <a:latin typeface="Aptos"/>
              </a:rPr>
              <a:t>Counts, regions and flags</a:t>
            </a:r>
            <a:endParaRPr sz="10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5808" y="224028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769BE"/>
                </a:solidFill>
                <a:latin typeface="Aptos"/>
              </a:rPr>
              <a:t>→</a:t>
            </a:r>
            <a:endParaRPr sz="20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41848" y="224028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769BE"/>
                </a:solidFill>
                <a:latin typeface="Aptos"/>
              </a:rPr>
              <a:t>→</a:t>
            </a:r>
            <a:endParaRPr sz="20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47888" y="224028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3769BE"/>
                </a:solidFill>
                <a:latin typeface="Aptos"/>
              </a:rPr>
              <a:t>→</a:t>
            </a:r>
            <a:endParaRPr sz="20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28800" y="3840480"/>
            <a:ext cx="3749039" cy="100584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3840480"/>
            <a:ext cx="64008" cy="100584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29968" y="3977640"/>
            <a:ext cx="33832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Result storage / export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29968" y="4343400"/>
            <a:ext cx="3364991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Metrics, chart data and annotated video are returned to the interface.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80"/>
            <a:ext cx="3749039" cy="100584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840480"/>
            <a:ext cx="64008" cy="1005840"/>
          </a:xfrm>
          <a:prstGeom prst="rect">
            <a:avLst/>
          </a:prstGeom>
          <a:solidFill>
            <a:srgbClr val="3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3977640"/>
            <a:ext cx="3383279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User review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01968" y="4343400"/>
            <a:ext cx="3364991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The user checks flagged timestamps and interprets results in the original clip.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Vehicle detection and counting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How the system estimates the number of visible vehicles.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10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416052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The video is decoded into frames and only selected frames are analysed to control processing time.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A pretrained object detector identifies vehicle classes such as cars, buses, trucks and motorcycles, depending on the model configuration.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Detections are counted in each sampled frame and summarised over the clip.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The activity chart shows how visible vehicle counts vary across sampled times.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A vehicle may be missed or counted inconsistently when it is hidden, blurred, small or partly outside the frame.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228600"/>
            <a:ext cx="8686800" cy="2260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endParaRPr sz="10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Vehicle movement and speed estimation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Image movement is not automatically the same as road speed.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11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31670"/>
            <a:ext cx="10698480" cy="416052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Tracking detections between frames allows the system to estimate how far a vehicle moves in image coordinates.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Movement can be compared over time to identify relatively slow image-space motion.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Without camera calibration and a known road reference, pixel movement cannot be reliably converted to km/h.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Camera perspective means the same real-world distance can occupy different numbers of pixels at different image locations.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For a validated speed estimate, calibrate the camera and compare the output with a trusted reference measurement.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Visible traffic density and road-space occupancy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The dashboard describes what is visible in the camera frame.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12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25955"/>
            <a:ext cx="10698480" cy="416052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Vehicle counts are summarised across sampled frames to show traffic activity over time.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The image can be divided into left, centre and right regions to compare where detections appear.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Occupancy is estimated from vehicle bounding-box area relative to the selected image region.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This is an image-space occupancy estimate, not a calibrated measurement of real road area or road capacity.</a:t>
            </a:r>
          </a:p>
          <a:p>
            <a:pPr algn="just"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Results are affected by camera angle, vehicle size in perspective, overlapping vehicles and the chosen analysis region.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Congestion Detective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A bottleneck is flagged only when multiple indicators support the same explanation.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13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4864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2F4C"/>
                </a:solidFill>
                <a:latin typeface="Aptos"/>
              </a:rPr>
              <a:t>The system checks three signals</a:t>
            </a:r>
            <a:endParaRPr sz="1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486400" cy="192024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Vehicle count is increasing over the selected time windows.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Vehicles show relatively slow movement.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Vehicle presence is increasing in the same image region, suggesting a possible growing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965960"/>
            <a:ext cx="4480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965960"/>
            <a:ext cx="64008" cy="1143000"/>
          </a:xfrm>
          <a:prstGeom prst="rect">
            <a:avLst/>
          </a:prstGeom>
          <a:solidFill>
            <a:srgbClr val="CD6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7" y="2103120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Example from the current run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22007" y="2468880"/>
            <a:ext cx="409651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The displayed early-to-late counts decrease, so the current evidence does not establish a growing queue.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720840" y="3429000"/>
            <a:ext cx="4480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3429000"/>
            <a:ext cx="64008" cy="11430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7" y="3566160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Interpretation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22007" y="3931920"/>
            <a:ext cx="409651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A warning is a possible bottleneck indicator, not proof of the cause of congestion.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1042416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1">
                <a:solidFill>
                  <a:srgbClr val="697C96"/>
                </a:solidFill>
                <a:latin typeface="Aptos"/>
              </a:rPr>
              <a:t>A signal should be labelled “not detected” only when its threshold test was actually evaluated; insufficient data should be shown separately.</a:t>
            </a:r>
            <a:endParaRPr sz="1300" b="0" i="1">
              <a:solidFill>
                <a:srgbClr val="697C9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Road-space intelligence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Compare vehicle presence across three fixed image regions.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14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15544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LEFT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3044952" cy="9601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Vehicle detections and estimated occupancy in the left region.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26280" y="2011680"/>
            <a:ext cx="342900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011680"/>
            <a:ext cx="64008" cy="15544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148840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CENTRE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7448" y="2514600"/>
            <a:ext cx="3044952" cy="9601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Vehicle detections and estimated occupancy in the centre region.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21040" y="2011680"/>
            <a:ext cx="3429000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011680"/>
            <a:ext cx="64008" cy="15544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148840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RIGHT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22208" y="2514600"/>
            <a:ext cx="3044952" cy="9601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Vehicle detections and estimated occupancy in the right region.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2F4C"/>
                </a:solidFill>
                <a:latin typeface="Aptos"/>
              </a:rPr>
              <a:t>What it helps us inspect</a:t>
            </a:r>
            <a:endParaRPr sz="1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10424160" cy="141732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Which region contains more visible vehicle detections on average.</a:t>
            </a:r>
          </a:p>
          <a:p>
            <a:pPr>
              <a:spcAft>
                <a:spcPts val="7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Whether vehicle presence is distributed evenly or concentrated in one part of the frame.</a:t>
            </a:r>
          </a:p>
          <a:p>
            <a:pPr>
              <a:spcAft>
                <a:spcPts val="7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Whether regional counts change over the clip.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4241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697C96"/>
                </a:solidFill>
                <a:latin typeface="Aptos"/>
              </a:rPr>
              <a:t>The regions are image areas, not surveyed road lanes. Results depend on how the camera frames the road.</a:t>
            </a:r>
            <a:endParaRPr sz="1200" b="0" i="1">
              <a:solidFill>
                <a:srgbClr val="697C9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Near-Miss Risk Radar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Flags possible close-trajectory interactions for manual review.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15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64008" cy="1143000"/>
          </a:xfrm>
          <a:prstGeom prst="rect">
            <a:avLst/>
          </a:prstGeom>
          <a:solidFill>
            <a:srgbClr val="CD6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148840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Potential interactions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8408" y="2514600"/>
            <a:ext cx="295351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4 flagged events in the example run.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201168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64008" cy="1143000"/>
          </a:xfrm>
          <a:prstGeom prst="rect">
            <a:avLst/>
          </a:prstGeom>
          <a:solidFill>
            <a:srgbClr val="3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148840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High heuristic flags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6007" y="2514600"/>
            <a:ext cx="295351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0 high-level flags reported.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2011680"/>
            <a:ext cx="33375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64008" cy="1143000"/>
          </a:xfrm>
          <a:prstGeom prst="rect">
            <a:avLst/>
          </a:prstGeom>
          <a:solidFill>
            <a:srgbClr val="CD6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148840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Moderate flags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93608" y="2514600"/>
            <a:ext cx="2953512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4 moderate flags reported.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2F4C"/>
                </a:solidFill>
                <a:latin typeface="Aptos"/>
              </a:rPr>
              <a:t>Examples shown by the dashboard</a:t>
            </a:r>
            <a:endParaRPr sz="1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4846320" cy="150876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00:00 — Car + Car</a:t>
            </a:r>
          </a:p>
          <a:p>
            <a:pPr>
              <a:spcAft>
                <a:spcPts val="5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00:01 — Car + Car</a:t>
            </a:r>
          </a:p>
          <a:p>
            <a:pPr>
              <a:spcAft>
                <a:spcPts val="5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00:04 — Bus + Car</a:t>
            </a:r>
          </a:p>
          <a:p>
            <a:pPr>
              <a:spcAft>
                <a:spcPts val="5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00:04 — Car + 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77639"/>
            <a:ext cx="4937760" cy="1371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8303C"/>
                </a:solidFill>
                <a:latin typeface="Aptos"/>
              </a:rPr>
              <a:t>These are preliminary image-space heuristics. They are not collision probabilities and do not account fully for road rules, right-of-way or three-dimensional distance. Every flag should be checked in the original video.</a:t>
            </a:r>
            <a:endParaRPr sz="1400" b="0" i="0">
              <a:solidFill>
                <a:srgbClr val="2830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Example output from the current demonstration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Values below describe the displayed sample run, not validated model accuracy.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16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5074920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3769BE"/>
                </a:solidFill>
                <a:latin typeface="Aptos"/>
              </a:rPr>
              <a:t>10.72</a:t>
            </a:r>
            <a:endParaRPr sz="25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0" y="217627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Average vehicles visible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09359" y="1965960"/>
            <a:ext cx="5074920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3769BE"/>
                </a:solidFill>
                <a:latin typeface="Aptos"/>
              </a:rPr>
              <a:t>15</a:t>
            </a:r>
            <a:endParaRPr sz="25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59" y="217627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Peak visible count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3291839"/>
            <a:ext cx="5074920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3769BE"/>
                </a:solidFill>
                <a:latin typeface="Aptos"/>
              </a:rPr>
              <a:t>53</a:t>
            </a:r>
            <a:endParaRPr sz="25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0320" y="3502151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Sampled frames analysed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9359" y="3291839"/>
            <a:ext cx="5074920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401568"/>
            <a:ext cx="16459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3769BE"/>
                </a:solidFill>
                <a:latin typeface="Aptos"/>
              </a:rPr>
              <a:t>4</a:t>
            </a:r>
            <a:endParaRPr sz="2500" b="1" i="0">
              <a:solidFill>
                <a:srgbClr val="3769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38159" y="3502151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F4C"/>
                </a:solidFill>
                <a:latin typeface="Aptos"/>
              </a:rPr>
              <a:t>Potential trajectory flags</a:t>
            </a:r>
            <a:endParaRPr sz="14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2F4C"/>
                </a:solidFill>
                <a:latin typeface="Aptos"/>
              </a:rPr>
              <a:t>Interpretation</a:t>
            </a:r>
            <a:endParaRPr sz="1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5257800"/>
            <a:ext cx="10515600" cy="91440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The video contains visible vehicle activity across the sampled frames.</a:t>
            </a:r>
          </a:p>
          <a:p>
            <a:pPr>
              <a:spcAft>
                <a:spcPts val="4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The example near-miss module produced review flags, but these require manual verification.</a:t>
            </a:r>
          </a:p>
          <a:p>
            <a:pPr>
              <a:spcAft>
                <a:spcPts val="4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The current outputs do not establish calibrated road speed, detector accuracy or actual collision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What EDA is used for in this project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EDA checks the input video and the statistics produced by the analysis pipeline.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17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607040" cy="274320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Inspect video properties: duration, frame rate, resolution and whether the road remains visible.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Plot vehicle count by sampled time to identify broad increases, decreases or stable periods.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Compare early, middle and late sections rather than relying on one frame.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Compare left, centre and right image regions to understand where detections are concentrated.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Review low-count and high-count frames manually to identify missed detections or occlusion.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498348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074920"/>
            <a:ext cx="64008" cy="8686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212080"/>
            <a:ext cx="4617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EDA takeaway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128" y="5577840"/>
            <a:ext cx="4599432" cy="2743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Visual trends help describe this clip, but do not by themselves prove causation.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5074920"/>
            <a:ext cx="498348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5074920"/>
            <a:ext cx="64008" cy="868680"/>
          </a:xfrm>
          <a:prstGeom prst="rect">
            <a:avLst/>
          </a:prstGeom>
          <a:solidFill>
            <a:srgbClr val="3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5212080"/>
            <a:ext cx="4617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Recommended check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3368" y="5577840"/>
            <a:ext cx="4599432" cy="2743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8303C"/>
                </a:solidFill>
                <a:latin typeface="Aptos"/>
              </a:rPr>
              <a:t>Compare a sample of model counts with manual frame annotations.</a:t>
            </a:r>
            <a:endParaRPr sz="1200" b="0" i="0">
              <a:solidFill>
                <a:srgbClr val="2830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Limitations and validation plan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The prototype should be evaluated before its measurements are treated as reliable.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18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4770" y="2332990"/>
            <a:ext cx="9400540" cy="1910080"/>
          </a:xfrm>
          <a:prstGeom prst="rect">
            <a:avLst/>
          </a:prstGeom>
          <a:noFill/>
        </p:spPr>
        <p:txBody>
          <a:bodyPr wrap="square" lIns="54864" tIns="36576" rIns="7315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Manually label vehicles in a representative sample of frames and compare them with model detections.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Report counting error and, where labels are available, detection precision and recall.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For speed in km/h, calibrate the camera and compare estimates with a trusted reference measurement.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Review every near-miss flag and record false positives and missed events.</a:t>
            </a:r>
          </a:p>
          <a:p>
            <a:pPr>
              <a:spcAft>
                <a:spcPts val="12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Test clips from different times, weather conditions and camera angles before making broader claims.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Conclusion and future scope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2699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A practical first step towards making road footage easier to inspect.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19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16636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64008" cy="18288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8006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Conclusion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468880"/>
            <a:ext cx="4782312" cy="93408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just">
              <a:spcAft>
                <a:spcPts val="300"/>
              </a:spcAft>
            </a:pPr>
            <a:r>
              <a:rPr sz="1400" b="0" i="0">
                <a:solidFill>
                  <a:srgbClr val="28303C"/>
                </a:solidFill>
                <a:latin typeface="Aptos"/>
              </a:rPr>
              <a:t>The prototype detects visible vehicles, summarises their activity, compares image regions and surfaces possible patterns for human review. It presents both evidence and limitations.</a:t>
            </a:r>
            <a:endParaRPr sz="14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16636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65960"/>
            <a:ext cx="64008" cy="1828800"/>
          </a:xfrm>
          <a:prstGeom prst="rect">
            <a:avLst/>
          </a:prstGeom>
          <a:solidFill>
            <a:srgbClr val="3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48006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F4C"/>
                </a:solidFill>
                <a:latin typeface="Aptos"/>
              </a:rPr>
              <a:t>Future improvements</a:t>
            </a:r>
            <a:endParaRPr sz="15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2576830"/>
            <a:ext cx="4782312" cy="71818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just">
              <a:spcAft>
                <a:spcPts val="300"/>
              </a:spcAft>
            </a:pPr>
            <a:r>
              <a:rPr sz="1400" b="0" i="0">
                <a:solidFill>
                  <a:srgbClr val="28303C"/>
                </a:solidFill>
                <a:latin typeface="Aptos"/>
              </a:rPr>
              <a:t>Add camera calibration, stronger tracking, manual ground-truth labels, evaluation across more videos and clearer confidence reporting.</a:t>
            </a:r>
            <a:endParaRPr sz="1400" b="0" i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2F4C"/>
                </a:solidFill>
                <a:latin typeface="Aptos"/>
              </a:rPr>
              <a:t>Main takeaway</a:t>
            </a:r>
            <a:endParaRPr sz="1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8303C"/>
                </a:solidFill>
                <a:latin typeface="Aptos"/>
              </a:rPr>
              <a:t>Counting is the starting point. Reliable speed and density estimates depend on calibration, consistent tracking and validation against real measurements.</a:t>
            </a:r>
            <a:endParaRPr sz="1800" b="0" i="0">
              <a:solidFill>
                <a:srgbClr val="2830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C2F4C"/>
                </a:solidFill>
                <a:latin typeface="Aptos"/>
              </a:rPr>
              <a:t>Tools and technical references</a:t>
            </a:r>
            <a:endParaRPr sz="2700" b="1" i="0">
              <a:solidFill>
                <a:srgbClr val="1C2F4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97C96"/>
                </a:solidFill>
                <a:latin typeface="Aptos"/>
              </a:rPr>
              <a:t>Please keep only the tools and model versions actually used in your implementation.</a:t>
            </a:r>
            <a:endParaRPr sz="13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109960" cy="13716"/>
          </a:xfrm>
          <a:prstGeom prst="rect">
            <a:avLst/>
          </a:prstGeom>
          <a:solidFill>
            <a:srgbClr val="D6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6012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97C96"/>
                </a:solidFill>
                <a:latin typeface="Aptos"/>
              </a:rPr>
              <a:t>VEHICLE SPEED &amp; DENSITY ESTIMATION  •  CCTV VIDEO ANALYTICS</a:t>
            </a:r>
            <a:endParaRPr sz="800" b="0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97C96"/>
                </a:solidFill>
                <a:latin typeface="Aptos"/>
              </a:rPr>
              <a:t>20</a:t>
            </a:r>
            <a:endParaRPr sz="900" b="1" i="0">
              <a:solidFill>
                <a:srgbClr val="697C9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4780" y="2282825"/>
            <a:ext cx="9621520" cy="3016885"/>
          </a:xfrm>
          <a:prstGeom prst="rect">
            <a:avLst/>
          </a:prstGeom>
          <a:noFill/>
        </p:spPr>
        <p:txBody>
          <a:bodyPr wrap="square" lIns="54864" tIns="36576" rIns="73152" bIns="27432">
            <a:noAutofit/>
          </a:bodyPr>
          <a:lstStyle/>
          <a:p>
            <a:pPr algn="just">
              <a:spcAft>
                <a:spcPts val="12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rPr sz="1600"/>
              <a:t>Ultralytics. YOLO documentation — https://docs.ultralytics.com/</a:t>
            </a:r>
            <a:endParaRPr sz="1600"/>
          </a:p>
          <a:p>
            <a:pPr algn="just">
              <a:spcAft>
                <a:spcPts val="12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rPr sz="1600"/>
              <a:t>OpenCV. Open Source Computer Vision Library documentation — https://docs.opencv.org/</a:t>
            </a:r>
            <a:endParaRPr sz="1600"/>
          </a:p>
          <a:p>
            <a:pPr algn="just">
              <a:spcAft>
                <a:spcPts val="12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rPr sz="1600"/>
              <a:t>Python Software Foundation. Python documentation — https://docs.python.org/3/</a:t>
            </a:r>
            <a:endParaRPr sz="1600"/>
          </a:p>
          <a:p>
            <a:pPr algn="just">
              <a:spcAft>
                <a:spcPts val="12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rPr sz="1600"/>
              <a:t>Pandas. User guide and API reference — https://pandas.pydata.org/docs/</a:t>
            </a:r>
            <a:endParaRPr sz="1600"/>
          </a:p>
          <a:p>
            <a:pPr algn="just">
              <a:spcAft>
                <a:spcPts val="12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rPr sz="1600"/>
              <a:t>Matplotlib. Plotting documentation — https://matplotlib.org/stable/</a:t>
            </a:r>
            <a:endParaRPr sz="1600"/>
          </a:p>
          <a:p>
            <a:pPr algn="just">
              <a:spcAft>
                <a:spcPts val="12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rPr sz="1600"/>
              <a:t>Dataset: road CCTV video supplied for this project. Add the original dataset name, source, licence and access date if known.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48000" y="2465070"/>
            <a:ext cx="6096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300"/>
              </a:spcAft>
            </a:pPr>
            <a:r>
              <a:rPr sz="8000" b="1">
                <a:solidFill>
                  <a:srgbClr val="1C2F4C"/>
                </a:solidFill>
                <a:latin typeface="Aptos"/>
                <a:sym typeface="+mn-ea"/>
              </a:rPr>
              <a:t>Thank you</a:t>
            </a:r>
            <a:endParaRPr lang="en-US" sz="8000" b="1">
              <a:solidFill>
                <a:srgbClr val="1C2F4C"/>
              </a:solidFill>
              <a:latin typeface="Aptos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12901</Words>
  <Application>WPS Presentation</Application>
  <PresentationFormat>On-screen Show (4:3)</PresentationFormat>
  <Paragraphs>431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Joshi rushitha Kasthuri</cp:lastModifiedBy>
  <cp:revision>3</cp:revision>
  <dcterms:created xsi:type="dcterms:W3CDTF">2013-01-27T09:14:00Z</dcterms:created>
  <dcterms:modified xsi:type="dcterms:W3CDTF">2026-09-30T06:23:22Z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41E2884CEF8D4478AF5045CCB9F50636_12</vt:lpwstr>
  </property>
</Properties>
</file>